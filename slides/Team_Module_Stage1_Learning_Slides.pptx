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6ec48ba0e244f0" /><Relationship Type="http://schemas.openxmlformats.org/officeDocument/2006/relationships/extended-properties" Target="/docProps/app.xml" Id="R4b26b01b6bc54b57" /><Relationship Type="http://schemas.openxmlformats.org/officeDocument/2006/relationships/officeDocument" Target="/ppt/presentation.xml" Id="Ra9932eb29da94c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db788649040b2"/>
  </p:sldMasterIdLst>
  <p:notesMasterIdLst>
    <p:notesMasterId xmlns:r="http://schemas.openxmlformats.org/officeDocument/2006/relationships" r:id="R4538a7cc72354c0e"/>
  </p:notesMasterIdLst>
  <p:sldIdLst>
    <p:sldId xmlns:r="http://schemas.openxmlformats.org/officeDocument/2006/relationships" id="256" r:id="Rc81f17a39f354bb2"/>
    <p:sldId xmlns:r="http://schemas.openxmlformats.org/officeDocument/2006/relationships" id="257" r:id="Rbe47c6f9f7624873"/>
    <p:sldId xmlns:r="http://schemas.openxmlformats.org/officeDocument/2006/relationships" id="258" r:id="Rfb9b4fe4ee354272"/>
    <p:sldId xmlns:r="http://schemas.openxmlformats.org/officeDocument/2006/relationships" id="259" r:id="Rad58d60e685440d5"/>
    <p:sldId xmlns:r="http://schemas.openxmlformats.org/officeDocument/2006/relationships" id="260" r:id="R8a0c2162faa041d5"/>
    <p:sldId xmlns:r="http://schemas.openxmlformats.org/officeDocument/2006/relationships" id="261" r:id="Ra86032e3496d45bb"/>
    <p:sldId xmlns:r="http://schemas.openxmlformats.org/officeDocument/2006/relationships" id="262" r:id="R465a4d83df4b464b"/>
    <p:sldId xmlns:r="http://schemas.openxmlformats.org/officeDocument/2006/relationships" id="263" r:id="Re6a0d980946a4aa2"/>
    <p:sldId xmlns:r="http://schemas.openxmlformats.org/officeDocument/2006/relationships" id="264" r:id="R5098afe456454486"/>
    <p:sldId xmlns:r="http://schemas.openxmlformats.org/officeDocument/2006/relationships" id="265" r:id="Rbad4bcdbdf5e4195"/>
    <p:sldId xmlns:r="http://schemas.openxmlformats.org/officeDocument/2006/relationships" id="266" r:id="R95eac0c20691492f"/>
    <p:sldId xmlns:r="http://schemas.openxmlformats.org/officeDocument/2006/relationships" id="267" r:id="R42c1105c1ed44af1"/>
    <p:sldId xmlns:r="http://schemas.openxmlformats.org/officeDocument/2006/relationships" id="268" r:id="Ra7c6e102b7a448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db788649040b2" /><Relationship Type="http://schemas.openxmlformats.org/officeDocument/2006/relationships/theme" Target="/ppt/theme/theme1.xml" Id="R64fda1adeea44251" /><Relationship Type="http://schemas.openxmlformats.org/officeDocument/2006/relationships/notesMaster" Target="/ppt/notesMasters/notesMaster1.xml" Id="R4538a7cc72354c0e" /><Relationship Type="http://schemas.openxmlformats.org/officeDocument/2006/relationships/presProps" Target="/ppt/presProps.xml" Id="Rc43e5a0d3671419d" /><Relationship Type="http://schemas.openxmlformats.org/officeDocument/2006/relationships/viewProps" Target="/ppt/viewProps.xml" Id="R2b124f6f98ae4a08" /><Relationship Type="http://schemas.openxmlformats.org/officeDocument/2006/relationships/tableStyles" Target="/ppt/tableStyles.xml" Id="R4e22f9874c464dc2" /><Relationship Type="http://schemas.openxmlformats.org/officeDocument/2006/relationships/slide" Target="/ppt/slides/slide1.xml" Id="Rc81f17a39f354bb2" /><Relationship Type="http://schemas.openxmlformats.org/officeDocument/2006/relationships/slide" Target="/ppt/slides/slide2.xml" Id="Rbe47c6f9f7624873" /><Relationship Type="http://schemas.openxmlformats.org/officeDocument/2006/relationships/slide" Target="/ppt/slides/slide3.xml" Id="Rfb9b4fe4ee354272" /><Relationship Type="http://schemas.openxmlformats.org/officeDocument/2006/relationships/slide" Target="/ppt/slides/slide4.xml" Id="Rad58d60e685440d5" /><Relationship Type="http://schemas.openxmlformats.org/officeDocument/2006/relationships/slide" Target="/ppt/slides/slide5.xml" Id="R8a0c2162faa041d5" /><Relationship Type="http://schemas.openxmlformats.org/officeDocument/2006/relationships/slide" Target="/ppt/slides/slide6.xml" Id="Ra86032e3496d45bb" /><Relationship Type="http://schemas.openxmlformats.org/officeDocument/2006/relationships/slide" Target="/ppt/slides/slide7.xml" Id="R465a4d83df4b464b" /><Relationship Type="http://schemas.openxmlformats.org/officeDocument/2006/relationships/slide" Target="/ppt/slides/slide8.xml" Id="Re6a0d980946a4aa2" /><Relationship Type="http://schemas.openxmlformats.org/officeDocument/2006/relationships/slide" Target="/ppt/slides/slide9.xml" Id="R5098afe456454486" /><Relationship Type="http://schemas.openxmlformats.org/officeDocument/2006/relationships/slide" Target="/ppt/slides/slide10.xml" Id="Rbad4bcdbdf5e4195" /><Relationship Type="http://schemas.openxmlformats.org/officeDocument/2006/relationships/slide" Target="/ppt/slides/slide11.xml" Id="R95eac0c20691492f" /><Relationship Type="http://schemas.openxmlformats.org/officeDocument/2006/relationships/slide" Target="/ppt/slides/slide12.xml" Id="R42c1105c1ed44af1" /><Relationship Type="http://schemas.openxmlformats.org/officeDocument/2006/relationships/slide" Target="/ppt/slides/slide13.xml" Id="Ra7c6e102b7a448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34f0473e0347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cc864b413422d" /><Relationship Type="http://schemas.openxmlformats.org/officeDocument/2006/relationships/notesMaster" Target="/ppt/notesMasters/notesMaster1.xml" Id="R433192dc2e81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46bee124346d8" /><Relationship Type="http://schemas.openxmlformats.org/officeDocument/2006/relationships/notesMaster" Target="/ppt/notesMasters/notesMaster1.xml" Id="R602afeab621c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9ff7ce8dff46f0" /><Relationship Type="http://schemas.openxmlformats.org/officeDocument/2006/relationships/notesMaster" Target="/ppt/notesMasters/notesMaster1.xml" Id="Rc6f678a8cf3f41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9170466ed94719" /><Relationship Type="http://schemas.openxmlformats.org/officeDocument/2006/relationships/notesMaster" Target="/ppt/notesMasters/notesMaster1.xml" Id="Rf287603fed4c48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50e73c87d0405a" /><Relationship Type="http://schemas.openxmlformats.org/officeDocument/2006/relationships/notesMaster" Target="/ppt/notesMasters/notesMaster1.xml" Id="R5bee5a247cf148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187d3615f14fc1" /><Relationship Type="http://schemas.openxmlformats.org/officeDocument/2006/relationships/notesMaster" Target="/ppt/notesMasters/notesMaster1.xml" Id="R3bab791b2c574e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bb6b05b654510" /><Relationship Type="http://schemas.openxmlformats.org/officeDocument/2006/relationships/notesMaster" Target="/ppt/notesMasters/notesMaster1.xml" Id="R2240f267df1a4a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8f7850bf44ff0" /><Relationship Type="http://schemas.openxmlformats.org/officeDocument/2006/relationships/notesMaster" Target="/ppt/notesMasters/notesMaster1.xml" Id="R5bd5bdb8f1774f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14cb42895c4f4e" /><Relationship Type="http://schemas.openxmlformats.org/officeDocument/2006/relationships/notesMaster" Target="/ppt/notesMasters/notesMaster1.xml" Id="R0ff7fa06419442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5614b79daa4216" /><Relationship Type="http://schemas.openxmlformats.org/officeDocument/2006/relationships/notesMaster" Target="/ppt/notesMasters/notesMaster1.xml" Id="R1b64b2133e3f4b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1bd9638300463e" /><Relationship Type="http://schemas.openxmlformats.org/officeDocument/2006/relationships/notesMaster" Target="/ppt/notesMasters/notesMaster1.xml" Id="R555753baaeee47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f679d93c8a4012" /><Relationship Type="http://schemas.openxmlformats.org/officeDocument/2006/relationships/notesMaster" Target="/ppt/notesMasters/notesMaster1.xml" Id="Ra67670f715e341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74f281de524705" /><Relationship Type="http://schemas.openxmlformats.org/officeDocument/2006/relationships/notesMaster" Target="/ppt/notesMasters/notesMaster1.xml" Id="R289243ca08a3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module as one connected system: compute, communicate,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Markdown V1.0: content/module-outline.md and content/.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columns as the module map. Emphasise that learners do not need advanced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Markdown V1.0: content/module-outline.md and content/.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PC as program counter and IR as instruction register. State that the simplified examples assume four-byte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Patterson &amp; Hennessy, Computer Organization and Design;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which value changed and why the PC advanced during fetch.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Patterson &amp; Hennessy, Computer Organization and Design;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example 3 million instructions × CPI 2 at 1.5 GHz = 4 ms. A higher frequency can lose if it needs more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Patterson &amp; Hennessy, Computer Organization and Design;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conceptual OSI model with the practical TCP/IP stack. The point is responsibility, not memorising seven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IETF RFC 791, RFC 768, RFC 9293, RFC 1034;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postal analogy carefully: IP is about destination and routing; TCP is about the conversation's delivery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IETF RFC 791, RFC 768, RFC 9293, RFC 1034;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to the activity in the Markdown content: trace one request through the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IETF RFC 791, RFC 768, RFC 9293, RFC 1034;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a reward is not the same as a correct label. It evaluates consequences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Sutton &amp; Barto, Reinforcement Learning: An Introduction;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equation from Q-LEARNING.md only after explaining each term in words. The activity uses alpha=1 for a simple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Sutton &amp; Barto, Reinforcement Learning: An Introduction;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planned cross-module activity. Ask learners to label each component and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Markdown V1.0: content/module-outline.md and content/.</a:t>
            </a:r>
          </a:p>
          <a:p xmlns:a="http://schemas.openxmlformats.org/drawingml/2006/main">
            <a:r>
              <a:t>- Patterson &amp; Hennessy, Computer Organization and Design; references.md.</a:t>
            </a:r>
          </a:p>
          <a:p xmlns:a="http://schemas.openxmlformats.org/drawingml/2006/main">
            <a:r>
              <a:t>- IETF RFC 791, RFC 768, RFC 9293, RFC 1034; references.md.</a:t>
            </a:r>
          </a:p>
          <a:p xmlns:a="http://schemas.openxmlformats.org/drawingml/2006/main">
            <a:r>
              <a:t>- Sutton &amp; Barto, Reinforcement Learning: An Introduction;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transition into the Markdown activities and answers. Invite learners to explain rather than memorise.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Markdown V1.0: content/module-outline.md and content/.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pointing students to the Markdown source, activities, references, and the next production stages: study guide, slides, and video tutorial.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Markdown V1.0: content/module-outline.md and content/.</a:t>
            </a:r>
          </a:p>
          <a:p xmlns:a="http://schemas.openxmlformats.org/drawingml/2006/main">
            <a:r>
              <a:t>- Patterson &amp; Hennessy, Computer Organization and Design; references.md.</a:t>
            </a:r>
          </a:p>
          <a:p xmlns:a="http://schemas.openxmlformats.org/drawingml/2006/main">
            <a:r>
              <a:t>- IETF RFC 791, RFC 768, RFC 9293, RFC 1034; references.md.</a:t>
            </a:r>
          </a:p>
          <a:p xmlns:a="http://schemas.openxmlformats.org/drawingml/2006/main">
            <a:r>
              <a:t>- Sutton &amp; Barto, Reinforcement Learning: An Introduction; references.md.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c703a392848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C1395D4-CBD3-4A33-9ED8-F2165B4DF40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DE3885E-A59E-4AA3-AD26-A02991F144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B102D2-71DB-4B1E-BA68-630B494FCE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2E31FC-EB9E-4E02-BE04-3C2576798F0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bf7add03b24d26" /><Relationship Type="http://schemas.openxmlformats.org/officeDocument/2006/relationships/slideLayout" Target="/ppt/slideLayouts/slideLayout2.xml" Id="Rd2bdbff23543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7CF37-A3D3-482A-B2CD-63BDEC11024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dbff23543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c8c01923d4702" /><Relationship Type="http://schemas.openxmlformats.org/officeDocument/2006/relationships/image" Target="/ppt/media/image.png" Id="Ra7d51f6381174b6c" /><Relationship Type="http://schemas.openxmlformats.org/officeDocument/2006/relationships/notesSlide" Target="/ppt/notesSlides/notesSlide1.xml" Id="R12ae8f79a6a841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018a106ab4bec" /><Relationship Type="http://schemas.openxmlformats.org/officeDocument/2006/relationships/image" Target="/ppt/media/image2.png" Id="R04d18be6534f4b66" /><Relationship Type="http://schemas.openxmlformats.org/officeDocument/2006/relationships/notesSlide" Target="/ppt/notesSlides/notesSlide2.xml" Id="Re2fbf77faf85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c6c3d8c5a40df" /><Relationship Type="http://schemas.openxmlformats.org/officeDocument/2006/relationships/image" Target="/ppt/media/image3.png" Id="R134695009b1b4074" /><Relationship Type="http://schemas.openxmlformats.org/officeDocument/2006/relationships/notesSlide" Target="/ppt/notesSlides/notesSlide3.xml" Id="R909310c55336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7390e402884246" /><Relationship Type="http://schemas.openxmlformats.org/officeDocument/2006/relationships/image" Target="/ppt/media/image4.png" Id="Rd0198d7dbb0f4663" /><Relationship Type="http://schemas.openxmlformats.org/officeDocument/2006/relationships/notesSlide" Target="/ppt/notesSlides/notesSlide4.xml" Id="R6e8bb1c72af845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b3f7659fd4aba" /><Relationship Type="http://schemas.openxmlformats.org/officeDocument/2006/relationships/image" Target="/ppt/media/image5.png" Id="Rcfa7b3b9436d4858" /><Relationship Type="http://schemas.openxmlformats.org/officeDocument/2006/relationships/notesSlide" Target="/ppt/notesSlides/notesSlide5.xml" Id="R5dd3a40c09a944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d773cf8004711" /><Relationship Type="http://schemas.openxmlformats.org/officeDocument/2006/relationships/image" Target="/ppt/media/image6.png" Id="R5c5c595693c849d2" /><Relationship Type="http://schemas.openxmlformats.org/officeDocument/2006/relationships/notesSlide" Target="/ppt/notesSlides/notesSlide6.xml" Id="R214795e86757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879de57bd14249" /><Relationship Type="http://schemas.openxmlformats.org/officeDocument/2006/relationships/image" Target="/ppt/media/image7.png" Id="R09b273cff251481e" /><Relationship Type="http://schemas.openxmlformats.org/officeDocument/2006/relationships/notesSlide" Target="/ppt/notesSlides/notesSlide7.xml" Id="R6e0f973afc90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48a8139f4406f" /><Relationship Type="http://schemas.openxmlformats.org/officeDocument/2006/relationships/image" Target="/ppt/media/image8.png" Id="R5c7afb3e89d44892" /><Relationship Type="http://schemas.openxmlformats.org/officeDocument/2006/relationships/notesSlide" Target="/ppt/notesSlides/notesSlide8.xml" Id="R1e69261f5dae49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ed8d4881b41c5" /><Relationship Type="http://schemas.openxmlformats.org/officeDocument/2006/relationships/image" Target="/ppt/media/image9.png" Id="Rac762aeed16e46f5" /><Relationship Type="http://schemas.openxmlformats.org/officeDocument/2006/relationships/notesSlide" Target="/ppt/notesSlides/notesSlide9.xml" Id="Rf16d3f54552f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2f80a2eea14f64" /><Relationship Type="http://schemas.openxmlformats.org/officeDocument/2006/relationships/image" Target="/ppt/media/image10.png" Id="R929b04210448435a" /><Relationship Type="http://schemas.openxmlformats.org/officeDocument/2006/relationships/notesSlide" Target="/ppt/notesSlides/notesSlide10.xml" Id="R1b72592a8d1945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976097038e47fa" /><Relationship Type="http://schemas.openxmlformats.org/officeDocument/2006/relationships/image" Target="/ppt/media/image11.png" Id="Re7fe6fc79ddd4457" /><Relationship Type="http://schemas.openxmlformats.org/officeDocument/2006/relationships/notesSlide" Target="/ppt/notesSlides/notesSlide11.xml" Id="R52fbcf734d0849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966ed2b541473c" /><Relationship Type="http://schemas.openxmlformats.org/officeDocument/2006/relationships/image" Target="/ppt/media/image12.png" Id="R6b6a95a6d0e1407d" /><Relationship Type="http://schemas.openxmlformats.org/officeDocument/2006/relationships/notesSlide" Target="/ppt/notesSlides/notesSlide12.xml" Id="R30abfe4909364f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d244b07c0491b" /><Relationship Type="http://schemas.openxmlformats.org/officeDocument/2006/relationships/image" Target="/ppt/media/image13.png" Id="R0c2a7dc3a9804321" /><Relationship Type="http://schemas.openxmlformats.org/officeDocument/2006/relationships/notesSlide" Target="/ppt/notesSlides/notesSlide13.xml" Id="Reb3727d62b974e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51f6381174b6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234ED-82D8-485C-B09A-0C2DB12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31289-80D5-4785-BC0D-53E6279A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41085-1F9A-45AA-870B-46B04FE1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TEAM MODULE / STAGE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AF37B-68AF-475B-AA67-FCE7689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From bits to behaviour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7DF41-48DA-4C99-A208-E75A28B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beginner's route through hardware, networks, and behaviourist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C7DA8-36A7-4517-9A65-96A48DE4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ECFFB-3D90-4996-B5AC-71CD82B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Three layers. One learning 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D2AC2-09DD-4EF2-9ED4-31C4D90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260622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18be6534f4b6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CC050-201C-440D-BE01-1CA99CA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91CD0-A34F-4149-BBE0-416A9E9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01 / LEARNING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07921-3286-46DA-8B7E-2FC6EE50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2CCB3-6480-4321-A4AE-0C7EF46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B1818-C03B-47CD-B486-1F9C0E44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72EA1-24F9-4DC8-BC72-205388A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Start with the machine, then follow the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5EBB7-C485-4399-8F5E-BE171DB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sequence moves from physical computation to communication and learned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A3809-2B94-4E6F-B628-ADE1342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CAB23-AF34-46E7-8A90-E0140A8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2BEB5-3952-4765-B0D7-B34E8231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4A8FB-F144-46D2-AAEC-D5D492A2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27EAD-C73A-417C-9425-8AF4ADD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4E7A5-CA0C-445E-B753-0B8BE2C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750CC-2774-4929-BF91-042CFFB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HARDWARE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63A58-C503-4DF1-BF5A-91A715FE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CPU, memory, instructions,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performance,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accelerators explain where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computation happens.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F73FA-5B9C-418E-989E-D87BEE1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9FD8C-9F1A-4238-AAE7-6B57F2B1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50905-C295-4CE6-B965-9C30874F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D52D1-5EB7-40CC-8CE0-1D5346A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A354C-79E3-43B1-AA6E-BE2EC64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FB2D9-A9F6-4580-A86E-8728A901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6ACCE-2442-4223-8835-4A1338F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NETWORKS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E018C-DE5E-482F-899B-B271435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Layers, packets, IP,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transport, DNS, and HTTP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explain how information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moves.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E59BF-F77C-4219-A449-9F6F82B5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C4080-EA41-4B9E-A2DC-FAB10A0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179B2-C6D9-45B6-8DC1-9E05F1C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487AF-374E-46BF-924D-8FD9531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795C1-9BD5-402C-A8CE-7F555CF9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0BDD6-A36C-452F-91B9-439FCDF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13662-839A-49CD-BA0F-4F99871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BEHAVIOURIST 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3E842-4B07-4F46-993E-028BAC5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Agents observe states,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choose actions, receive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rewards, and update their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policy.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D98CA1-9020-4F59-9835-6BD7AFAB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815442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695009b1b407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D44A9-50BF-4486-BB62-976E20D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77CA8-FD52-4CB7-A707-0B9F6B4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CC19D-52FB-487D-91F7-C8CB7DF3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6FE81-76DA-4D80-A7E1-81B09A8F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B9AC3-66AB-41EB-AECB-5445A4A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429F-EE7D-4592-BD74-6581FF4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Every instruction follows a repeatable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59AA3-1BD9-4F6F-A693-4303FDAE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Fetch the instruction, decode its meaning, then execute the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B3C36-70D2-4784-8AFC-FF59B16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1D764-67D9-4E56-9891-0C53CBB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1C9A7-3611-4E12-9823-6E0A0AA7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FETCH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E892F-87A4-4825-BC05-97541BF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Read the next instruction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3095-0E07-49D7-B33E-FEB2738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PC → memory →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56032-35A5-4E0C-840E-8770937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1298C-CBBD-4480-B456-C08B82E5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7FCBA-7A76-43EB-8AB9-B1D439DE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DECODE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EE30F-AD72-42A6-9D5C-02AD2ED4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Interpret the 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AE7BB-E3AA-4943-A25E-5372550E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Control unit prepares operands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7F77E-2EAA-4FFD-807F-98345327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FC265-D51B-4681-8EF1-6C24FFC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F2948-BE7F-4C82-8C06-DDFD433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6C93F-6050-4578-9F19-DC18570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Change the machine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7578A-E9BB-488A-A3C2-E9E544F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ALU or memory produces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F7ABA-81A0-4801-806B-B30BC455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841444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98d7dbb0f466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A358E-32D3-4AB6-9032-760B494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71228-8365-461F-B874-6D19BB14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B22A-52B2-4BDB-8A0F-8D558B3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AAAA3-4351-49D8-8822-6B57022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FFE69-4EC7-4065-BDCB-3AC044A6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0A3F-1A9B-465B-A19B-F9109642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 trace makes the invisible state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843E-2F32-4604-8A30-AFDB141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Worked example: ADD R1, R2 at address 0x100, with R1=5 and R2=3.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18426-4682-465C-8438-31885B8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45B99-DEEA-4BF0-80F9-C0BDC5E0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5C60F-AFB1-4DE8-9412-72D88CB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3D81B-3009-4AC2-ACD7-F427EDE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AA8FC-741C-4C55-8DBA-08D4210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D416C-0352-48A0-97A6-34B65891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C0A9A-1620-4815-BCAF-CD2CEB0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1 · FETCH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99A0A-95F3-4CFC-A000-2CB865F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PC=0x100 selects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instruction. The instruction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enters IR and PC becomes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0x104.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9E1FF-0283-44B4-9276-395DDE0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E607D-D286-4E34-AF0B-DAE3CA8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7B7FF-F036-4414-95BF-6349B73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64151-0B6E-4F2F-A7EE-680EDFDE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D6BA4-BAF3-42F0-9318-F6A6143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ADBB4-06B8-4A2F-9956-1371860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61F96-8A1F-4DA3-8032-2AC02877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2 · DECODE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4CE9F-2E41-4C29-833B-9CB272A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control unit identifies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ADD, reads R1 and R2,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prepares the ALU inputs.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332CC-F64A-430C-90F3-0F096FA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BAD14-1E84-44EA-8500-12A4693D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E1EC0-1027-45B4-A94C-88901E4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85A03-8AD9-4637-9E95-7215C69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FEB919-3584-4ED0-B045-00604F1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08967-DF5F-4337-A82F-76DB650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92D52-905E-40B2-98D9-DB1BFBA2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3 · 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D3630-9E87-469D-BCC4-2CF321BD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ALU computes 5+3. R1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becomes 8; R2 stays 3; PC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remains 0x104.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E3491-EAFA-4A74-90DD-C25DB8DF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328264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7b3b9436d485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D6DA3-F876-4953-B116-BCF3B492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C1905-01F0-4207-A4BA-92C53FED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E8781-0ABF-4FC3-850B-1DF17810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78A42-8D8B-4269-939A-F1A4D26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21F5B-F8F2-4C77-BD02-BB7A8D9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385AA-77F5-41B6-A8D0-E2727AE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Performance is total work, not just GHz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ADC58-5637-4BA0-9A1D-430E31C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CPU time depends on instruction count, average CPI, and clock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A4D44-2F92-4487-919E-EC0AAA1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60DF5-CCA3-4EC4-B987-6C2F2F02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0E2FE-F117-4751-8652-CD347078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CYCLES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AEB1D-837E-48C8-BB86-E56BA59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Instruction count × CPI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FB7DE-184A-4655-8C26-B336326B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Total work demanded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74D1E-22E0-45E9-A455-BF8E6CE8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7D58A-1B9A-419C-B8C8-F6E0595A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86C90-3123-4640-8A72-3134CF6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PERIOD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7DE6D-35B4-4311-957C-248F6CC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1 ÷ frequency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51D0B-F638-4974-8DDC-2583B60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Time per clock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80CB3-628E-429C-B715-10BBF1B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211B7-41CF-48FD-B2E0-E0362BF3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36310-6F94-4CBB-921B-854EF2C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B7EC2-7023-404F-90EC-0B5EB27B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Cycles ÷ cycles/second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79649-B8B5-47E4-BD87-CEBE4C1E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Estimated CPU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41CCA-233D-4643-A732-6867677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812943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c595693c849d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EA6D9-CFE1-4B5B-8630-8A1F6E05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A49CA-7E85-4A27-B723-F06D132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A6AA-EE68-46D2-B08C-150A2BA0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148EA-07D6-45EC-A685-BFAABBF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2083E-7215-4DFF-91CB-35F84C7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DC65C-5A89-40DC-9E88-AC43DFF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Layers keep network responsibilities separate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9AE17-BF6B-488D-A172-EEF0B6C2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message becomes application data, a segment, a packet, a frame, and finally bits.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29E58-A93A-4E5F-8EE7-A197615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F8049-809F-415D-9282-74BB2F5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59813-A11C-4C0F-B84B-F79C26BE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EC4C6-D76C-4277-A4F9-C376271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2DEAD-CA84-4524-8258-074A259C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558A5-62D3-4627-8A73-2224B3E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A7D9B-C155-4822-98D2-8C86F608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7E31B-A90B-49B9-A7AB-530B09E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HTTP or DNS gives the data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meaning to a user-facing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2591F-4E7A-47E2-A4B2-5E52032F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0E8B2-85FE-4710-AA7D-4422694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42CF2-3C88-4075-B504-2C3C206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CBAD4-2A9F-445E-8E2E-5018065E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8F2EF-1203-42FF-96DE-51D8938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BD2B8-7E7D-4509-8756-51261BE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E6F2A-D681-4BEE-AD1E-D9244B4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TRANSPORT + 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613A9-519B-47C8-B67E-556F216E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TCP or UDP handles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end-to-end delivery; IP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addresses and routes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packets.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67148-7E0B-492E-AD84-EB23722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2A2BE-120F-40C1-94A0-FE906F0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82D83-A7DE-46E5-9D33-390749D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6A5A3-2B30-4F77-A529-1E7A02A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3A707-5AC1-4183-9F94-FDD9E97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3CCE7-B299-44CE-89A0-AB496E5B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778C1-3BC0-4C63-A125-30BB56A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LINK + PHYSICAL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B2D17-603F-4D2B-9908-7917A89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Ethernet/Wi-Fi frames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hop and hardware carries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bits as signals.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B342C-70B7-4B98-BF54-10F99E1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211296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273cff251481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245E3-CF16-4040-B94D-85C5C96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04CB5-BBCE-468A-8E43-2D34DD5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36F49-EDD7-4E55-BD69-D5822B1B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35E06-3E29-401C-88A9-89065DE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41318-535F-466C-A3D2-0FC00F4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FA4BC-7345-4188-8855-0AF3FF58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IP and TCP answer different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D6600-A912-4FF3-95C4-87264B69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IP gets a packet toward a destination; TCP can make a byte stream reliable and ordered.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ADDF0-2FDA-4296-B86B-90F437B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D26A4-D079-4BAB-9927-0E13EA66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81EC2-E2E9-44CE-9433-84313B9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EE48F-444D-4646-8E1E-D5BEAD46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F00D2-D421-405A-A0EE-9E611FB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C0961-397C-4F2C-989D-841C7BD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56EAD-CB9C-4958-B429-C443B0E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A8E75-9F8D-495A-B529-B5C99B0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Best-effort network-layer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delivery using source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destination addresses.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5F6D5-0C14-4812-9BD6-43270EB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DB9BA-95F8-40B7-8FFE-0F9F089E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0942A-1709-4049-BC53-59F089D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34E0E-9F99-403C-8E70-C9F11AE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B419E-A430-435F-B3D0-4EDE30B8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ECC8A-6B3C-4278-AA5E-BDA34ADF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591EB-2544-4EC4-963D-0A3394F9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CB2A4-F6D2-4537-B3FC-9A04E3D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Transport-layer reliability,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ordering, flow control,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ports.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5424B-8A50-4BFC-9BED-F83C4318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5F9CB-B05B-4855-B165-5B4C1F7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4F997E-558F-4A8A-B928-53D8DE9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6B335-5D8F-41EE-ABB0-798FCE5C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B2504A-399B-4777-9BD9-8F77B08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CCE0B-B1C3-437D-BC7E-8336A0FF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0652A-5354-4AEB-ACDA-1BBFA3AA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UDP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1808D-DE1A-4633-B64E-0D65E33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Lower-overhead datagrams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when the application accepts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trade-offs.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EF3665-EFD3-4302-BFCE-13ECB7E2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605598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afb3e89d4489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8AB3-6658-4007-8A36-F8A471E9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3A6FB-8D67-4AC5-A245-018DFA5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46B44-86B8-4509-9155-03B42101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C7CDE-2C8F-4847-AB7A-7011950D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864A-8A40-475C-ABC8-DA9D1E11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672FC-0411-4483-BBF9-67708D7D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 web request is a stack of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BD402-DD25-4914-82D9-BC2AF287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DNS finds an address; HTTP names the resource; transport and IP move the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91FC2-4B2B-44A1-A660-22C7FD1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CF027-5BE5-4534-A0D6-FB28558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316F4-C8CB-41EF-9D77-3F95267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E7CF7-5E28-4A91-AA9D-E69108D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EF563-0846-4B3A-B0F8-AF11CB7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B0AF8-755D-4971-935C-1A1B3A7B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6E81B-6EF2-4285-873E-1B99BD97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5FB98-BF8A-4137-B589-DEF440A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DNS maps example.com to an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IP address, often using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cached answers.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E2500-5737-4391-AE83-3F372024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D6522-E12B-4F2A-8A16-85F99D96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2C957-68C2-4FCA-9025-3DE96F9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94C78-56DA-47D6-A5D6-71066B9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1B511-F072-4835-BCDC-91360D7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746E0-F446-4C6F-AFBC-A668A71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A1B90-1F2B-41D0-8BA7-1E6BF922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FCB7A-532D-4871-8C02-1F9AE01B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browser sends an HTTP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method, path, headers,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optional body.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3E790-F8D6-41F1-9EEE-FA7EBA3F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DEF26-76E1-4E5E-8EED-0431CF0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059F2-ACA0-48F5-83D6-4E2AD756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42B03-2C2B-443F-ACAD-3CF631C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5361A0-B21C-4DB0-9165-2C444F1C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47B71D-D8AC-43AA-BA88-D159EF0B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C1F5D-F32A-4C56-B339-C524550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6C0B7-3AF2-4E36-A19A-83DB4A9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server returns a status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code, headers, and content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such as HTML.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C0D4FB-C99A-487D-B2D5-F69A1C93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719477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62aeed16e46f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4BE4-DBCF-4464-9080-846B9051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4E72F-4DB3-4857-9AC1-F5C4994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BEHAVIOURIST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C423F-62C7-4916-B8C1-30BF8C2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F0821-6363-49B2-8C0B-5AB563A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F07A2-8432-4F25-9C09-686ACB63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7EEE2-F51B-4D56-A6B3-3D196AE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Learning begins with an agent–environment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4EA2A-4D68-4E9F-8119-4F8D3857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Observe a state, choose an action, receive a reward, and update what the agent expects.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DDA7-FCB5-49D1-9B1D-7A4E57B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348B0-B817-4482-AF9A-DF8F34B3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D11C6-20E3-460E-BAF8-33C4CBC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FF97E-4E9E-46E9-8547-C2198AD5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D35D-23DB-4CB9-89AA-92D07565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F1278-4E06-41CB-824A-0E3F66A8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D55CB-B98D-497E-A71E-4D93CB2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62509-82CD-498A-BEE5-CF6A6977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information available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now: position, sensor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readings, or a game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situation.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800D4-302B-44A0-8557-38EA504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80529-1F63-47F8-B376-3764822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5226B-5CC8-4DF2-B3DD-F048CF9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6F3D0-4A33-4131-B433-CAD0A3D5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D47E5-3331-4A6D-853E-4A01B64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1D8FD-302B-42B2-80ED-5ED1C1A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8D8A6-4C85-4948-AEDF-A32D5F8E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A3D5B-97EC-4AAB-AA9F-832B7EFA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choice made by the agent,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such as move, brake,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select.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639BD-767D-4E35-8358-1061D86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041EB-0653-46E1-8A7F-6BF58C1F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30D49E-32FD-46DF-8812-27FF900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96813-FCD3-4AF7-8F6C-AF248AE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AC19C-BECE-4D63-891D-E1C5664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4C008B-5C66-48BE-8170-A379941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1218E-0BBE-4491-A80E-4B74673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REWARD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4C0D78-B9E4-4173-96DB-AF12848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Feedback that makes future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choices more or less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attractive.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B6DAA-1BEE-4108-BCD1-AE138978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995553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b04210448435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6B714-5919-4D41-915E-3F297F1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30994-A3AD-40B3-B9ED-B4E4588D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BEHAVIOURIST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BD655-C21D-44C4-A6F1-E1BB411E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55660-F574-4061-9770-AABDD91A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9739E-61C0-4C79-B981-4135DBF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62BDC-59FE-42F3-A7E2-7766604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Q-learning stores value for state–action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98E8-4F6E-4D7B-B1AE-A26B7FC2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update combines immediate reward with the best expected value of the next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51C9D-2021-4746-86C6-CA61857D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8C689-47D8-4FA1-A87B-75687F35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18338-AAB6-4DEC-8D12-4DA5137C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D0FEC-22E4-4693-978D-479ED6B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6F888-40D5-4817-B520-6016EC64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BE216-6C8B-41F7-A9B1-4F5B9E3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9916-0EA8-4E12-801C-BA4F9A6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Q(s,a)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1697E-15E1-46ED-957E-29AFBF3A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number estimating how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useful action a is in state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71C22-BF2A-4926-BB35-07B9692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B1DB7-03DB-43E4-910D-5ABB61E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E0FC3-9AB6-412B-8241-83D8F06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6FCDA-0460-4D53-A7F8-C1B8609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B58A9-BB66-4183-9B1F-DB58F18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D59CD-C7A7-4B9D-BA61-446BB91C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99550-C37C-4EE1-AA6D-477E2599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13D2B-3C39-4186-A08B-BC6191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Old value moves toward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reward + discounted best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next-state value.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1FFFD-4F22-46E9-B665-0D785919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50F27-B638-4E57-B308-D13332F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9AAD0-C019-4D22-B5AA-C6BF8AA5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5AA4D-E6FF-4311-8552-F07D55DD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FD485-EEDD-49A2-B51A-B52B6F3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8695A-F2D3-4414-8B39-2E8FC27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FC7B3-218D-4D8C-8343-102CF004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32854-8FB3-4358-8E89-5BE4DDD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 Q-table works for small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discrete worlds; DQN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approximates values for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large state spaces.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4542F-37BE-4026-8E80-55B3C6E6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586855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e6fc79ddd445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475D-B0AE-4FE9-A887-6934B9F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63D62-C67E-46F1-86A9-3263EA8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FF6E-9AED-409F-8F75-3610C36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A16C6-562E-4907-A08E-779FBD2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CE636-40C6-4D28-9FC2-B5D809D7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10ECD-2787-4D75-8203-B6B6D3D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One robot crosses all three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E7C6C-221A-4B85-8EC6-981DC69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camera observation becomes data, travels through a network, is computed, and changes behaviour.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14050-92DD-47BE-B93F-D4B25B58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E8AB9-2FCE-4BD7-A50C-1247F80F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13447-56C0-413B-ADDF-FCD081F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0BAD5-82B8-4E99-A04A-D356D7C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4191E-CC74-4168-A90D-5545386A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B3879-4626-4D99-A9D9-0217188A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EE34E-7A4D-46BB-88E6-D2B9509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INPUT + HARDWARE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C9ED8-E4A9-439E-85C7-B5912C2A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Camera and NIC capture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move an observation; memory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holds intermediate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C07EB-3A29-45DF-AC7B-22E95AD3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7BCFC-1D52-4AC6-A9F0-7E6CEB6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4FEBD-3B9E-473B-BD33-C129179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3592D-232D-47C7-B27D-CFBEDC5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7D9A2-35FF-4EFD-A25F-2794D65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FA6C7-4A3D-4D14-8B55-E62D3B7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3F21D-D34F-4FBD-B048-0A35F409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NETWORK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69668-B3B7-48DE-AB38-533D3AEB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Packets carry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observation to a computer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running the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3FB8A-0D51-40D0-ACFC-4DD73BB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5967E-3035-4607-B9AC-157F69D8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0E20B-3B06-41FE-8DB4-6CE1DCFC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D69CB-E805-41B7-B10B-DD3B77A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950B6-E115-41CB-9911-20E6862A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07083-AD80-4945-9DD4-CC57EFA3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D9AD0-6452-42B7-8DEC-6A7B350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LEARNING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36185-A6B7-42C0-928F-3F2AA75F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agent selects an action,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receives a reward,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updates its estimate.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9EDA4D-BF7B-4BD2-B332-489D9BA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945037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a95a6d0e1407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0B32-3BFC-4C7D-A68E-2849708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AAFD2-C4ED-46FF-8D4C-7D875C8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046B3-CF97-4004-8C03-A3A5875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62776-2B5E-41D1-8AF6-7CD524D3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68FF1-9B7D-4ADC-B972-5BA5FBE3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66B0C-12E6-4D8D-9C41-B001D2F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Can you explain the chain?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34A8-F2EA-4816-B719-717B2D2E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strong answer names the responsibility at each layer and states the assumptions.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D56FA-C8C0-4108-AE87-8191594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5FA2D-C64D-4458-B2CF-8F621FC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57E1D-7C38-4E24-B5CE-147FC22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FF440-972C-4F1F-BACF-0BEB86FD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2AE35-B987-43AE-956F-273D606C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B9B4B-90F5-415D-8CD0-89BD07C3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8A6F3-D0B5-468D-BBCE-551160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8985E-1EB2-446F-B74A-65D914EC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Where is the instruction,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packet, or state at this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point?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F3C29-971E-4B7F-9DA5-28873F2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9A96B-3A8D-47A5-AA48-5B76816F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57F51-C213-4D61-BD9B-77750F46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FDA21-BD80-449A-B003-5D1F980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7B33A-9B95-41A0-84BB-F98EE3B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89E10-F315-4416-9031-C701D5FF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95B9A-BDA1-431F-8D80-805B34A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COMPARE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93583-0C76-48BB-BF12-6C458597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What changes if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workload, protocol, 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reward changes?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FFD22-2857-4CCC-8A9D-4E9EDA0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79F6E-87B9-4840-A9A6-EAE2954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34F64-2B3E-4685-89E1-ECC63477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3FD6B-08AD-4410-BCCA-5B5B2CC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F605F-5252-4C87-9317-665B1ADF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2846E-73DA-4901-B8B9-7E347401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D18194-7B58-4104-B5BA-5E8EF00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JUSTIFY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BF443-FBD3-483C-A84D-762F5552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Which source or example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supports the explanation?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0729B0-8D8B-41AC-9B01-D24B18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657402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073F3-AA70-4101-817F-2B67BB97D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a7dc3a980432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C7BD3-6BB6-4AD2-8CDB-54A8AF8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CDB65-FCA6-429A-9A96-552314C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415E9-A5A3-4910-B25F-4577DFA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C1336-2249-4BF6-B315-A786FE4D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23470-677B-4669-84DF-ED7201F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D4A77-23AD-4109-B18C-14C8938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The module turns a black box into a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8F350-1596-4D95-86CA-36FF245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Hardware computes, networks communicate, and behaviourist AI learns from consequences.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0AFC4-F3D2-491B-B5B0-CAE3587D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C2704-2BCA-43C9-AEED-2FD5CA9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7AC00-0478-4E10-8AB0-9272603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39AC8-BB2E-4BBD-9F85-9BA068A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957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964E0-231C-495E-98A8-812B3833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95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7E4C6-D36B-40D4-AEA8-5110B38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1B86F-9B5E-44C9-AA71-C6F09362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D9884-7841-407B-B0DF-5C78149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Add a specific, sourced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point for this slide.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04331-D0E3-4577-94FA-49F9074A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22D4B-119F-489A-A0BD-83B57F4C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48BCA-5072-4728-A3C6-B89B720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B4979-0E43-4C3B-8955-E3F735B5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4ACC3-6D87-4A4C-9A1E-113A583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4D9D2-EFFE-4B46-9D69-C02F204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576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9309C-433F-4330-8688-E280D7A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Author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036B9-86E4-4AB6-9EE8-1725B6CC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Use native PowerPoint chart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objects for charts; use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deterministic geometry for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cards and callouts.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5C596-7EFD-47CC-A12A-EA7F58A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F10B4-AFA0-40D7-9B43-66D5E81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909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27F41C-1A4A-4FEF-B662-62A641E5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3A161-2DBA-465B-97D6-9EAA133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624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8CECD-1137-4F84-92FB-71E49DF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481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AB9283-5233-495C-B055-1D088BB6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338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DAD82-E6BB-4657-BC20-8828C8D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005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7ABB6E-6E62-466E-A6CD-F90CB00C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101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Render previews, inspect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them at readable size,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fix actionable layout issues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within 3 total render loops.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0726BC-3693-4480-BE96-3C0771A3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Stage 1 learning module · Hardware, Networks &amp; Behaviourist AI</a:t>
            </a:r>
          </a:p>
        </p:txBody>
      </p:sp>
    </p:spTree>
    <p:extLst>
      <p:ext uri="{BB962C8B-B14F-4D97-AF65-F5344CB8AC3E}">
        <p14:creationId xmlns:p14="http://schemas.microsoft.com/office/powerpoint/2010/main" val="1003300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2026-10-26T03:21:50.5680000Z</dcterms:created>
  <dcterms:modified xsi:type="dcterms:W3CDTF">2026-10-26T03:21:50.5690000Z</dcterms:modified>
</coreProperties>
</file>